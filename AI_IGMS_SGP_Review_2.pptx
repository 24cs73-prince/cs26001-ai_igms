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00" d="100"/>
          <a:sy n="300" d="100"/>
        </p:scale>
        <p:origin x="-14030" y="-5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38912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CHARUSAT CSE · SGP 5 · REVIEW 2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AI-IGMS</a:t>
            </a:r>
          </a:p>
          <a:p>
            <a:pPr>
              <a:spcBef>
                <a:spcPts val="400"/>
              </a:spcBef>
              <a:defRPr sz="2200" b="1">
                <a:solidFill>
                  <a:srgbClr val="93C5FD"/>
                </a:solidFill>
              </a:defRPr>
            </a:pPr>
            <a:r>
              <a:t>AI-Enabled Integrated Government School Management System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 Multilingual 5-Role Digital Academic Platform Powered by Live LLM &amp;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9260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rPr dirty="0"/>
              <a:t>STUDENT PRESENTER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rPr dirty="0"/>
              <a:t>Prince Patel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Student ID: 24CS0</a:t>
            </a:r>
            <a:r>
              <a:rPr lang="en-IN" dirty="0"/>
              <a:t>66,24CS68,24CS073</a:t>
            </a:r>
            <a:br>
              <a:rPr dirty="0"/>
            </a:br>
            <a:r>
              <a:rPr dirty="0" err="1"/>
              <a:t>B.Tech</a:t>
            </a:r>
            <a:r>
              <a:rPr dirty="0"/>
              <a:t> Computer Science &amp; </a:t>
            </a:r>
            <a:r>
              <a:rPr dirty="0" err="1"/>
              <a:t>Engg</a:t>
            </a:r>
            <a:br>
              <a:rPr dirty="0"/>
            </a:br>
            <a:r>
              <a:rPr dirty="0"/>
              <a:t>Semester 5 · 2025–26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292608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rPr dirty="0"/>
              <a:t>DEPARTMENT &amp; GUIDE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rPr dirty="0"/>
              <a:t>CHARUSAT University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CSPIT · Dept. of Computer Science</a:t>
            </a:r>
            <a:br>
              <a:rPr dirty="0"/>
            </a:br>
            <a:r>
              <a:rPr lang="en-IN" dirty="0"/>
              <a:t>Prof. Akshita kadam</a:t>
            </a:r>
            <a:br>
              <a:rPr dirty="0"/>
            </a:br>
            <a:r>
              <a:rPr dirty="0"/>
              <a:t>SGP Review 2 Examination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dirty="0"/>
              <a:t>SYSTEM HIGHLIGHTS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rPr dirty="0"/>
              <a:t>100% Live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• 5 Distinct Portals with RBAC</a:t>
            </a:r>
            <a:br>
              <a:rPr dirty="0"/>
            </a:br>
            <a:r>
              <a:rPr dirty="0"/>
              <a:t>• Multilingual AI Exam Generator</a:t>
            </a:r>
            <a:br>
              <a:rPr dirty="0"/>
            </a:br>
            <a:r>
              <a:rPr dirty="0"/>
              <a:t>• 18 Indexed MongoDB Collections</a:t>
            </a:r>
            <a:br>
              <a:rPr dirty="0"/>
            </a:br>
            <a:r>
              <a:rPr dirty="0"/>
              <a:t>• 0-Second Auto-Grading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01 | BACKGROUND &amp; MOTIVATION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Critical Bottlenecks in Traditional School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749039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</a:defRPr>
            </a:pPr>
            <a:r>
              <a:t>CHALLENGE 01 · MANUAL PAPER REGISTERS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400" b="1">
                <a:solidFill>
                  <a:srgbClr val="0B132B"/>
                </a:solidFill>
              </a:defRPr>
            </a:pPr>
            <a:r>
              <a:t>45+ Hours Monthly Administrative Drain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Teachers spend over 45 minutes daily hand-marking physical attendance registers and calculating aggregates. Physical logs suffer from dampness, loss, tampering, and zero instant reporting to headmasters.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374903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CHALLENGE 02 · EXAMINATION FATIGUE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400" b="1">
                <a:solidFill>
                  <a:srgbClr val="0B132B"/>
                </a:solidFill>
              </a:defRPr>
            </a:pPr>
            <a:r>
              <a:t>High Cognitive Load &amp; Days of Grading Lag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Creating custom terminal question papers across Grades 1–12 requires extensive teacher effort. Furthermore, grading 40+ paper answer sheets takes days, delaying learning feedback and creating human grading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3749039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</a:defRPr>
            </a:pPr>
            <a:r>
              <a:t>CHALLENGE 03 · RURAL PARENTAL DISCONNECT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400" b="1">
                <a:solidFill>
                  <a:srgbClr val="0B132B"/>
                </a:solidFill>
              </a:defRPr>
            </a:pPr>
            <a:r>
              <a:t>Complete Blind Spot on Child Progress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Parents in rural government schools lack real-time visibility into whether their children attended school or how they performed on tests, leading to unchecked absenteeism and high dropout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3C5FD"/>
                </a:solidFill>
              </a:defRPr>
            </a:pPr>
            <a:r>
              <a:t>THE QUANTIFIABLE IMPACT OF EXISTING PROCESSES: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  ⚡ 78% Manual Admin Overhead    |    📉 Zero Real-Time Attendance Sync    |    ⏱️ 3-5 Days Evaluation Lag    |    🚫 No Multilingual Question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02 | OBJECTIVES &amp; VALUE PROPOSITION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AI-IGMS: The 4-Pillar Modernized School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PILLAR 1</a:t>
            </a:r>
          </a:p>
          <a:p>
            <a:pPr>
              <a:spcBef>
                <a:spcPts val="400"/>
              </a:spcBef>
              <a:defRPr sz="1600" b="1">
                <a:solidFill>
                  <a:srgbClr val="0B132B"/>
                </a:solidFill>
              </a:defRPr>
            </a:pPr>
            <a:r>
              <a:t>Unified 5-Role Digital Portal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Provides isolated, secure dashboards for Super Admin, Principal, Teacher, Student, and Parent with role-specific access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PILLAR 2</a:t>
            </a:r>
          </a:p>
          <a:p>
            <a:pPr>
              <a:spcBef>
                <a:spcPts val="400"/>
              </a:spcBef>
              <a:defRPr sz="1600" b="1">
                <a:solidFill>
                  <a:srgbClr val="0B132B"/>
                </a:solidFill>
              </a:defRPr>
            </a:pPr>
            <a:r>
              <a:t>Live Multilingual AI Engine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Groq Cloud LLM integration automatically generates standardized, syllabus-aligned question papers in English, Gujarati, and Hindi in under 2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PILLAR 3</a:t>
            </a:r>
          </a:p>
          <a:p>
            <a:pPr>
              <a:spcBef>
                <a:spcPts val="400"/>
              </a:spcBef>
              <a:defRPr sz="1600" b="1">
                <a:solidFill>
                  <a:srgbClr val="0B132B"/>
                </a:solidFill>
              </a:defRPr>
            </a:pPr>
            <a:r>
              <a:t>Online Exam &amp; 0s Auto-Grading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Fully automated MCQ testing platform that instantly evaluates student submissions against MongoDB keys with zero teacher workload.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PILLAR 4</a:t>
            </a:r>
          </a:p>
          <a:p>
            <a:pPr>
              <a:spcBef>
                <a:spcPts val="400"/>
              </a:spcBef>
              <a:defRPr sz="1600" b="1">
                <a:solidFill>
                  <a:srgbClr val="0B132B"/>
                </a:solidFill>
              </a:defRPr>
            </a:pPr>
            <a:r>
              <a:t>Transparent Academic Operations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Real-time attendance tracking, marks entry with automatic grade calculation (A+–F), and timetable management across all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03 | TECHNICAL ARCHITECTURE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</a:defRPr>
            </a:pPr>
            <a:r>
              <a:t>3-Tier System Architecture &amp; Communication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TIER 1: PRESENTATION CLIENT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React 18 · Vite 5 · Tailwind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• Responsive Single Page Application (SPA)</a:t>
            </a:r>
            <a:br/>
            <a:r>
              <a:t>• 5 Dedicated Role Portals with Dynamic Routing</a:t>
            </a:r>
            <a:br/>
            <a:r>
              <a:t>• Multi-Language UI (English / Gujarati / Hindi)</a:t>
            </a:r>
            <a:br/>
            <a:r>
              <a:t>• Axios HTTP Client with JWT Bearer Interceptors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 2: APPLICATION &amp; LOGIC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Node.js · Express.js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• Stateless REST API with Granular Route Guards</a:t>
            </a:r>
            <a:br/>
            <a:r>
              <a:t>• JWT Token Generation &amp; Bcrypt 10-Salt Hashing</a:t>
            </a:r>
            <a:br/>
            <a:r>
              <a:t>• Groq Cloud SDK Bridge with JSON Schema Enforcement</a:t>
            </a:r>
            <a:br/>
            <a:r>
              <a:t>• Circuit-Breaker Guard with 2.5s Failover Timeout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9728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TIER 3: DATA &amp; AI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MongoDB Atlas &amp; Groq LPU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091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• 18 Normalized Collections with Indexed Keys</a:t>
            </a:r>
            <a:br/>
            <a:r>
              <a:t>• Multi-Tenant Isolation via schoolId &amp; studentId</a:t>
            </a:r>
            <a:br/>
            <a:r>
              <a:t>• Llama-3.3-70B/8B Ultra-Fast Inference via Groq Cloud</a:t>
            </a:r>
            <a:br/>
            <a:r>
              <a:t>• Dual Cluster Resiliency (Atlas Cloud + Local Fallback)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04 | PERSISTENCE &amp; DATA MODEL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MongoDB Database Architecture: 18 Indexed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18 COLLECTIONS STRUCTURED BY DOMAIN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📁 Auth &amp; System (Users, Schools, Audits)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Manages credentials, school profile, and audit logs with role-based claims.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📁 Stakeholder Profiles (Students, Teachers, Parents)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Maintains relational entities linked through unique IDs (teacherId, studentId).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📁 Exams &amp; AI Engine (Exams, Submissions, Results)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Stores published AI papers, questions with answer keys, and student submission logs.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📁 Academic Operations (Attendance, Timetables, Leaves, Notices)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Tracks daily attendance rosters, 6-period weekly matrices, and official circulars.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91476719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03520" cy="31593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LIVE MONGODB COMPASS INSPECTION · ai_igms &gt; teachers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05 | ROLE-BASED ACCESS CONTROL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5 Dedicated Portals with Granular RBAC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GRANULAR ROLE GOVERNANCE</a:t>
            </a:r>
          </a:p>
          <a:p>
            <a:pPr>
              <a:spcBef>
                <a:spcPts val="600"/>
              </a:spcBef>
              <a:defRPr sz="1200" b="1">
                <a:solidFill>
                  <a:srgbClr val="0B132B"/>
                </a:solidFill>
              </a:defRPr>
            </a:pPr>
            <a:r>
              <a:t>👤 Super Admin Portal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State command center, onboard schools, district audits, state-wide enrolment metrics.</a:t>
            </a:r>
          </a:p>
          <a:p>
            <a:pPr>
              <a:spcBef>
                <a:spcPts val="600"/>
              </a:spcBef>
              <a:defRPr sz="1200" b="1">
                <a:solidFill>
                  <a:srgbClr val="0B132B"/>
                </a:solidFill>
              </a:defRPr>
            </a:pPr>
            <a:r>
              <a:t>👤 Principal Portal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School operations, teacher roster management, student master records, circular notices.</a:t>
            </a:r>
          </a:p>
          <a:p>
            <a:pPr>
              <a:spcBef>
                <a:spcPts val="600"/>
              </a:spcBef>
              <a:defRPr sz="1200" b="1">
                <a:solidFill>
                  <a:srgbClr val="0B132B"/>
                </a:solidFill>
              </a:defRPr>
            </a:pPr>
            <a:r>
              <a:t>👤 Teacher Portal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AI question generator, publish exams, mark daily attendance, input marks, class timetable.</a:t>
            </a:r>
          </a:p>
          <a:p>
            <a:pPr>
              <a:spcBef>
                <a:spcPts val="600"/>
              </a:spcBef>
              <a:defRPr sz="1200" b="1">
                <a:solidFill>
                  <a:srgbClr val="0B132B"/>
                </a:solidFill>
              </a:defRPr>
            </a:pPr>
            <a:r>
              <a:t>👤 Student Portal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Attempt timed online exams, view immediate report cards, check timetable &amp; announcements.</a:t>
            </a:r>
          </a:p>
          <a:p>
            <a:pPr>
              <a:spcBef>
                <a:spcPts val="600"/>
              </a:spcBef>
              <a:defRPr sz="1200" b="1">
                <a:solidFill>
                  <a:srgbClr val="0B132B"/>
                </a:solidFill>
              </a:defRPr>
            </a:pPr>
            <a:r>
              <a:t>👤 Parent Portal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Live attendance tracking of child, terminal marks view, leave applications, school direct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914742709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03520" cy="25533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LIVE SUPER ADMIN COMMAND CENTER (GOVT OF GUJARAT)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06 | LIVE ARTIFICIAL INTELLIGENCE ENGINE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Multilingual Live AI Paper Generator (Groq Cloud LLM)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GROQ CLOUD LPU INFERENCE ENGINE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✨ Multilingual Generation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Native support for English, Gujarati (ગુજરાતી), and Hindi (हिन्दी) with 100% language fidelity.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✨ Sub-2 Second Generation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Powered by Groq LPU Llama-3.3 hardware acceleration, delivering 10-question papers in &lt; 2.0s without server lag.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✨ Syllabus &amp; Difficulty Matching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Generates age-appropriate questions aligned to Class 1–12 with custom difficulty sliders (Easy / Medium / Hard).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✨ Strict JSON Schema Output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Enforces rigid JSON schema validation: question title, 4 options, and correct answer key for instant zero-error database publication.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✨ Fail-Safe Circuit Breaker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Embedded fallback question cache ensures the teacher never faces timeouts even if internet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91657269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03520" cy="25191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</a:defRPr>
            </a:pPr>
            <a:r>
              <a:t>LIVE GUJARATI AI PAPER GENERATED IN TEACHER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07 | ASSESSMENT &amp; AUTO-GRADING ENGINE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Automated Online Examination &amp; Zero-Latency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AUTOMATED EXAM EVALUATION LIFECYCLE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⚙️ Step 1: One-Click Publishing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AI-generated papers are immediately saved into the Exams collection with status 'Published' and allocated to specific classes.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⚙️ Step 2: Timed Student Assessment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Students take the test inside a clean, distraction-free interface with countdown timer and randomized option presentation.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⚙️ Step 3: 0-Second Auto-Grading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Upon submission, answers are instantly matched against MongoDB answer keys on the server—zero human evaluation required.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⚙️ Step 4: Real-Time Report Card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Students and teachers receive immediate score breakdowns, correct answer reviews, and percentage rankings.</a:t>
            </a:r>
          </a:p>
          <a:p>
            <a:pPr>
              <a:spcBef>
                <a:spcPts val="600"/>
              </a:spcBef>
              <a:defRPr sz="1150" b="1">
                <a:solidFill>
                  <a:srgbClr val="0B132B"/>
                </a:solidFill>
              </a:defRPr>
            </a:pPr>
            <a:r>
              <a:t>⚙️ Step 5: PDF Export &amp; Archive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Teachers can print official PDF question papers with school header and answer keys with a single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9165417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03520" cy="31903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LIVE EXAM AUTO-PUBLISHED TO MONGODB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08 | CORE ACADEMIC MODULES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Daily Attendance, Marksheet Entry &amp; Timetable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ACADEMIC OPERATIONS INFRASTRUCTURE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📋 Daily Attendance Roster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Teachers select Standard &amp; Division, then mark students Present or Absent with single clicks. Aggregates update automatically with date indexing.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📋 Student Marks Management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Direct marks upload interface with automated grade bands (A+, A, B, C, F), class averages, and permanent MongoDB persistence.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📋 Weekly Timetable Matrix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Dynamic 6-period daily timetable schedule mapping subject, teacher, and classroom allocations without double-booking conflicts.</a:t>
            </a:r>
          </a:p>
          <a:p>
            <a:pPr>
              <a:spcBef>
                <a:spcPts val="800"/>
              </a:spcBef>
              <a:defRPr sz="1200" b="1">
                <a:solidFill>
                  <a:srgbClr val="0B132B"/>
                </a:solidFill>
              </a:defRPr>
            </a:pPr>
            <a:r>
              <a:t>📋 Leave &amp; Notice Circulars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Teachers apply for leave directly to the Principal, and official school circulars broadcast instantly across portals.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a_1791651191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03520" cy="22684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5544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LIVE ATTENDANCE ROSTER MODULE IN TEACHER PORTAL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09 | SECURITY &amp; SYSTEM RELIABILITY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</a:defRPr>
            </a:pPr>
            <a:r>
              <a:t>Enterprise Security &amp; Fault-Tolerant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🛡️ STATELESS JWT AUTHENTICATION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Cryptographic Token Verification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Every authenticated session receives a signed JWT token containing userId and role. Sent via HTTP Bearer headers and validated by server middleware on every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🛡️ BCRYPT PASSWORD SALTING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10-Round Cryptographic Hashing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All user passwords across all 5 roles are hashed using Bcrypt with 10 salt rounds before database persistence. Plain-text passwords are never stored or logged.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GRANULAR ROUTE GUARDS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Role-Based Endpoint Protection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Client routes and Express endpoints enforce role authorization checks. A student or teacher cannot access admin endpoints or mutate other students'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🛡️ CIRCUIT BREAKER &amp; FAILOVER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2.5s Timeout Guard &amp; Dual Cluster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Groq AI requests enforce a strict 2.5-second circuit breaker with automatic local fallback. Database connection features automatic retry between Atlas Cloud and local cluster.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10 | IMPLEMENTATION SPECIFICATIONS</a:t>
            </a:r>
          </a:p>
          <a:p>
            <a:pPr>
              <a:spcBef>
                <a:spcPts val="300"/>
              </a:spcBef>
              <a:defRPr sz="2100" b="1">
                <a:solidFill>
                  <a:srgbClr val="0B132B"/>
                </a:solidFill>
              </a:defRPr>
            </a:pPr>
            <a:r>
              <a:t>Full-Stack Technology Stack &amp; Developer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FRONTEND SPA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React 18 &amp; Vite 5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Modular component architecture, React Hooks, React Router 6, instant Hot Module Replacement (HMR).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UI &amp; STYLING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Tailwind CSS &amp; Lucide Icons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Utility-first responsive styling, accessible government color palette, rich interactive iconography.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BACKEND RUNTIME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Node.js &amp; Express.js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High-throughput asynchronous event-driven RESTful API server with custom route middlewares.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7C41"/>
                </a:solidFill>
              </a:defRPr>
            </a:pPr>
            <a:r>
              <a:t>DATABASE LAYER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MongoDB Atlas &amp; Mongoose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Scalable document store, schema validations, indexed relational foreign references (ObjectId).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862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06908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</a:defRPr>
            </a:pPr>
            <a:r>
              <a:t>AI ENGINE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Groq Cloud LPU (Llama-3.3)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Low-latency tensor processor inference with prompt engineering and strict JSON schema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8620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069080"/>
            <a:ext cx="3108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SECURITY &amp; DEVOPS</a:t>
            </a:r>
          </a:p>
          <a:p>
            <a:pPr>
              <a:spcBef>
                <a:spcPts val="400"/>
              </a:spcBef>
              <a:defRPr sz="1500" b="1">
                <a:solidFill>
                  <a:srgbClr val="0B132B"/>
                </a:solidFill>
              </a:defRPr>
            </a:pPr>
            <a:r>
              <a:t>JWT, Bcrypt &amp; Git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Stateless bearer authentication, 10-salt password hashing, Git version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11 | PROJECT MILESTONES &amp; PROGRESS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</a:defRPr>
            </a:pPr>
            <a:r>
              <a:t>SGP Review 2 Deliverables &amp; Review 3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PHASE 1 (COMPLETED)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Review 1 Foundation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Problem definition &amp; literature review</a:t>
            </a:r>
            <a:br/>
            <a:r>
              <a:t>✅ UI wireframing for all 5 roles</a:t>
            </a:r>
            <a:br/>
            <a:r>
              <a:t>✅ Baseline MongoDB schema architecture</a:t>
            </a:r>
            <a:br/>
            <a:r>
              <a:t>✅ REST API endpoint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PHASE 2 (LIVE &amp; WORKING)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Review 2 Deliverables (100% Done)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✅ 5 Role-Based Portals fully functional</a:t>
            </a:r>
            <a:br/>
            <a:r>
              <a:t>✅ Live Multilingual AI Paper Generator (English, Gujarati, Hindi)</a:t>
            </a:r>
            <a:br/>
            <a:r>
              <a:t>✅ 18 MongoDB collections modeled &amp; live</a:t>
            </a:r>
            <a:br/>
            <a:r>
              <a:t>✅ Online exam taking &amp; 0s auto-grading</a:t>
            </a:r>
            <a:br/>
            <a:r>
              <a:t>✅ Attendance, marks &amp; timetable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459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PHASE 3 (NEXT MILESTONE)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Review 3 &amp; Final Scope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🚀 Automated Parent SMS / WhatsApp alerts</a:t>
            </a:r>
            <a:br/>
            <a:r>
              <a:t>🚀 AI Student Weak-Topic Diagnostic Tutor</a:t>
            </a:r>
            <a:br/>
            <a:r>
              <a:t>🚀 Progressive Web App (PWA) offline sync for remote rural schools</a:t>
            </a:r>
            <a:br/>
            <a:r>
              <a:t>🚀 Final performance benchmarking &amp; viva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CHARUSAT UNIVERSITY · CSE DEPARTMENT · SGP REVIEW 2 EVALUATION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Thank You! Questions &amp; Live System Demonstration Open for Faculty Reviewers.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1677</Words>
  <Application>Microsoft Office PowerPoint</Application>
  <PresentationFormat>Widescreen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24CS073 PRINCEKUMAR PATEL</cp:lastModifiedBy>
  <cp:revision>4</cp:revision>
  <dcterms:created xsi:type="dcterms:W3CDTF">2013-01-27T09:14:16Z</dcterms:created>
  <dcterms:modified xsi:type="dcterms:W3CDTF">2026-10-11T13:28:06Z</dcterms:modified>
  <cp:category/>
</cp:coreProperties>
</file>